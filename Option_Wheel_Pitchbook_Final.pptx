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2" r:id="rId15"/>
    <p:sldId id="271" r:id="rId16"/>
    <p:sldId id="270" r:id="rId17"/>
    <p:sldId id="274" r:id="rId18"/>
    <p:sldId id="26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19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3"/>
          </a:solidFill>
          <a:ln w="12700">
            <a:solidFill>
              <a:srgbClr val="0F1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3891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89120" y="0"/>
            <a:ext cx="54864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Mingshu Lu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Catherine Chen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579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Jessica Xu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Li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Jackie Zhang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298448"/>
            <a:ext cx="3474720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Options Strategy  |  2025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</a:t>
            </a:r>
            <a:endParaRPr lang="en-US" sz="5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5400" dirty="0"/>
          </a:p>
        </p:txBody>
      </p:sp>
      <p:sp>
        <p:nvSpPr>
          <p:cNvPr id="15" name="Shape 13"/>
          <p:cNvSpPr/>
          <p:nvPr/>
        </p:nvSpPr>
        <p:spPr>
          <a:xfrm>
            <a:off x="4846320" y="3657600"/>
            <a:ext cx="64008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3794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Premium Harvesting via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Cash-Secured Puts &amp; Covered Calls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5120640"/>
            <a:ext cx="1600200" cy="1234440"/>
          </a:xfrm>
          <a:prstGeom prst="rect">
            <a:avLst/>
          </a:prstGeom>
          <a:solidFill>
            <a:srgbClr val="1B2A4A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52303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57150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Capital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29400" y="5120640"/>
            <a:ext cx="1600200" cy="1234440"/>
          </a:xfrm>
          <a:prstGeom prst="rect">
            <a:avLst/>
          </a:prstGeom>
          <a:solidFill>
            <a:srgbClr val="1B2A4A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9400" y="52303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2013–2024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57150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Period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412480" y="5120640"/>
            <a:ext cx="1600200" cy="1234440"/>
          </a:xfrm>
          <a:prstGeom prst="rect">
            <a:avLst/>
          </a:prstGeom>
          <a:solidFill>
            <a:srgbClr val="1B2A4A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0" y="52303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 vs D20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0" y="57150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Regimes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195560" y="5120640"/>
            <a:ext cx="1600200" cy="1234440"/>
          </a:xfrm>
          <a:prstGeom prst="rect">
            <a:avLst/>
          </a:prstGeom>
          <a:solidFill>
            <a:srgbClr val="1B2A4A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95560" y="52303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Stocks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95560" y="57150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747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2926080"/>
            <a:ext cx="256032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3108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Premium Harvesting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49040" y="914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25696" y="107899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914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Strategy 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64240" y="914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435608"/>
            <a:ext cx="822960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25696" y="171907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554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Stock Selection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064240" y="15544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2075688"/>
            <a:ext cx="822960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4904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425696" y="235915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Data Pipeline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64240" y="21945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49040" y="2715768"/>
            <a:ext cx="822960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4904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25696" y="299923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Delta Computation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064240" y="28346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3355848"/>
            <a:ext cx="822960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49040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425696" y="363931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Contract Selection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064240" y="3474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49040" y="3995928"/>
            <a:ext cx="822960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49040" y="4114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425696" y="427939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4114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Backtesting Engine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064240" y="4114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49040" y="4636008"/>
            <a:ext cx="822960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749040" y="4754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425696" y="491947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63440" y="4754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 &amp; Infrastructure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064240" y="47548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49040" y="5276088"/>
            <a:ext cx="822960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49040" y="5394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4425696" y="555955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5394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Framework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064240" y="53949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Mandate &amp; Design Goals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1274552" cy="0"/>
          </a:xfrm>
          <a:prstGeom prst="line">
            <a:avLst/>
          </a:prstGeom>
          <a:noFill/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1274552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strategy with balanced risk-return characteristics — higher yield than Treasuries, lower volatility than equities.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56616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0299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Target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3566160" cy="141732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514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 above 3-month Treasury bills, capturing option premium alpha without requiring directional equity bets.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965960"/>
            <a:ext cx="356616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20299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Control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2441448"/>
            <a:ext cx="3566160" cy="141732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2514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lower annualized volatility than the S&amp;P 500. Systematic premium income cushions daily P&amp;L and smooths the equity curve.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965960"/>
            <a:ext cx="3566160" cy="475488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83880" y="20299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Discipline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2441448"/>
            <a:ext cx="3566160" cy="141732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83880" y="2514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peak-to-trough losses than long-only equity exposure. Assigned stocks benefit from cost-basis reduction via collected premiums.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041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WHEEL STRATEGY?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315968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434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Income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731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put + call premiums each 4-week cycle as a recurring income source.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4434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67328" y="4434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Path-Independent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47731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returns in flat or slowly trending markets — not just bull runs.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63056" y="4434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0256" y="4434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63056" y="47731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mechanical selection eliminates discretionary bias and emotional decisions.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15984" y="4434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73184" y="4434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15984" y="47731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D10/D20 delta regimes offer two calibrated risk-return profiles for comparison.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658368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  |  Systematic Premium Harvesting  |  2013–2024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Wheel Cycle — Simplified State Machine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1274552" cy="0"/>
          </a:xfrm>
          <a:prstGeom prst="line">
            <a:avLst/>
          </a:prstGeom>
          <a:noFill/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170432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170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0" y="1490472"/>
            <a:ext cx="5486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67712" y="13898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2103120" cy="196596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210312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0299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Underlying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450592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stocks selected each rebalance via multi-factor scoring (Quality, Momentum, Consensus)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72968" y="1170432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72968" y="1170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33088" y="1490472"/>
            <a:ext cx="5486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13898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70048" y="1920240"/>
            <a:ext cx="2103120" cy="196596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70048" y="1920240"/>
            <a:ext cx="210312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61488" y="20299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Cash-Secured Put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61488" y="2450592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OTM put at target delta (D10: −0.10 / D20: −0.20). Collect premium. DTE ∈ [21,27]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77256" y="1170432"/>
            <a:ext cx="640080" cy="640080"/>
          </a:xfrm>
          <a:prstGeom prst="ellipse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77256" y="1170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37376" y="1490472"/>
            <a:ext cx="5486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76288" y="13898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74336" y="1920240"/>
            <a:ext cx="2103120" cy="196596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74336" y="1920240"/>
            <a:ext cx="2103120" cy="73152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65776" y="20299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Check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65776" y="2450592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OTM: keep premium, sell new put.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ITM (S &lt; K): stock assigned at strike 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81544" y="1170432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81544" y="1170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741664" y="1490472"/>
            <a:ext cx="5486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80576" y="13898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78624" y="1920240"/>
            <a:ext cx="2103120" cy="196596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78624" y="1920240"/>
            <a:ext cx="210312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70064" y="20299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Covered Call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370064" y="2450592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OTM call at target delta (+0.10 / +0.20) on assigned shares. Collect premium.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085832" y="1170432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085832" y="1170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582912" y="1920240"/>
            <a:ext cx="2103120" cy="196596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82912" y="1920240"/>
            <a:ext cx="210312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674352" y="20299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Rinse &amp; Repeat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674352" y="2450592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OTM: keep shares, sell new call.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ITM (S &gt; K): shares called away. Return to Step 1.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069080"/>
            <a:ext cx="11338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38912" y="41056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Regime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267712" y="41056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Target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913632" y="41056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Target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59552" y="41056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Probability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54112" y="41056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Level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582912" y="41056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4416552"/>
            <a:ext cx="113385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38912" y="44622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 Strategy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67712" y="44622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−0.10 delta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913632" y="44622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 delta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59552" y="44622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(~10%)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754112" y="44622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582912" y="44622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" y="4800600"/>
            <a:ext cx="11338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38912" y="48463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 Strategy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267712" y="4846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−0.20 delta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913632" y="4846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 delta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559552" y="48463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(~20%)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754112" y="48463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582912" y="48463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57200" y="658368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version: hold to expiration, no early close, no roll.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F2610E6-2287-D6EE-CD09-CCDE51A07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0025"/>
            <a:ext cx="12192000" cy="6456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19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Stock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Scoring Model — S&amp;P 500 Universe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1274552" cy="0"/>
          </a:xfrm>
          <a:prstGeom prst="line">
            <a:avLst/>
          </a:prstGeom>
          <a:noFill/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12745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 =  0.5 × Market Cap  +  0.2 × Quality (ROE)  +  0.2 × Momentum (6M)  +  0.1 × Analyst Consensus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6517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1901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130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Filter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2651760" cy="182880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423160"/>
            <a:ext cx="2432304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large-cap S&amp;P 500 equities to ensure deep options markets, tight bid-ask spreads, and sufficient open interest for 4-week contracts.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10128" y="1874520"/>
            <a:ext cx="265176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1568" y="190195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41648" y="1901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(ROE)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41648" y="2130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10128" y="2331720"/>
            <a:ext cx="2651760" cy="182880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19856" y="2423160"/>
            <a:ext cx="2432304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 measures management efficiency and balance sheet strength — filtering for firms with durable earnings power and low distress risk.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63056" y="1874520"/>
            <a:ext cx="2651760" cy="457200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90195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94576" y="1901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(6M)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94576" y="2130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Trend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63056" y="2331720"/>
            <a:ext cx="2651760" cy="182880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2784" y="2423160"/>
            <a:ext cx="2432304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trailing return captures medium-term price continuation. Avoids mean-reverting laggards that are more likely to see put assignment.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15984" y="1874520"/>
            <a:ext cx="2651760" cy="45720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07424" y="190195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47504" y="1901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Consensus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47504" y="2130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I/B/E/S Ratings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015984" y="2331720"/>
            <a:ext cx="2651760" cy="182880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25712" y="2423160"/>
            <a:ext cx="2432304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I/B/E/S institutional ratings. Inverted and normalized: Strong Buy receives highest score, reflecting broad market conviction and lower downside risk.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315968"/>
            <a:ext cx="11274552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43525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681728"/>
            <a:ext cx="54864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5216" y="4700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Universe: 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645920" y="470001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constituents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4681728"/>
            <a:ext cx="54864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54496" y="4700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Rebalance: 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315200" y="470001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4 weeks (aligned with option expiry cycle)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5120640"/>
            <a:ext cx="54864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5216" y="51389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Filter: 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645920" y="51389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stocks priced above $1,000 (contract sizing)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26480" y="5120640"/>
            <a:ext cx="54864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54496" y="51389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15200" y="51389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stocks ranked by composite score, equal weight 5% each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658368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  |  Systematic Premium Harvesting  |  2013–2024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Data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Architecture — 4 Output Tables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1274552" cy="0"/>
          </a:xfrm>
          <a:prstGeom prst="line">
            <a:avLst/>
          </a:prstGeom>
          <a:noFill/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Sources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17520" y="11155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(Member 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0" y="11155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Output Tables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235440" y="11155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Modules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5394960" cy="214884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1600200"/>
            <a:ext cx="64008" cy="2148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16916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OptionTable_rebal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85216" y="2039112"/>
            <a:ext cx="5120640" cy="2377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" y="2057400"/>
            <a:ext cx="5074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| ticker | cp_flag | exp_date | strike | mid | dte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5216" y="235000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Rebalance-date option chain snapshot. Filtered to DTE ∈ [21,27] and exp_date &gt; rebalance_date. mid = close. Used by Members 3 &amp; 4.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" y="34107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Member 3 (IV) → Member 4 (Contract)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600200"/>
            <a:ext cx="5394960" cy="214884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0" y="1600200"/>
            <a:ext cx="64008" cy="2148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91072" y="16916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UnderlyingPrice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54496" y="2039112"/>
            <a:ext cx="5120640" cy="2377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91072" y="2057400"/>
            <a:ext cx="5074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| ticker | close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54496" y="235000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daily closing prices 2013–2024 for all selected stocks. Used for daily MTM valuation, expiration ITM/OTM check, and BS delta input.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34107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Member 3 (S input) → Member 5 (MTM)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5394960" cy="214884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64008" cy="2148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" y="40233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RiskFree3M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85216" y="4370832"/>
            <a:ext cx="5120640" cy="2377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1792" y="4389120"/>
            <a:ext cx="5074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| r_3m_annual_pct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5216" y="468172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3-month T-bill annualized rate. Missing values forward-filled, aligned to trading calendar. Used as risk-free rate r in Black-Scholes.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5216" y="574243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Member 3 (r input) → Member 5 (cash yield)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3931920"/>
            <a:ext cx="5394960" cy="214884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26480" y="3931920"/>
            <a:ext cx="64008" cy="2148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91072" y="40233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OptionMTMTable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254496" y="4370832"/>
            <a:ext cx="5120640" cy="2377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91072" y="4389120"/>
            <a:ext cx="5074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| ticker | cp_flag | exp_date | strike | mid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54496" y="468172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mid prices for only the traded contracts during their holding period [trade_date, exp_date]. Used exclusively for daily P&amp;L marking of open positions.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54496" y="574243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Member 5 (daily MTM)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658368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WRDS/CRSP (stock prices) | WRDS/IBES (fundamentals &amp; consensus) | Databento API (options)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Delta Computation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Black-Scholes IV Inversion → European Delta Approximation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1274552" cy="0"/>
          </a:xfrm>
          <a:prstGeom prst="line">
            <a:avLst/>
          </a:prstGeom>
          <a:noFill/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1274552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52144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Delta?  Delta ≈ probability of assignment at expiration. Targeting a specific delta creates two calibrated risk regimes: D10 (~10% assignment) vs D20 (~20% assignment).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76072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64008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18562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2057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Volatility (IV) Inversion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350008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sigma input available. Given market mid price, solve for σ such that BS_price(σ) = mid.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Newton-Raphson iteration (fast convergence, 5–10 iterations).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576072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64008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1821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33832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Black-Scholes Delta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3675888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Δ_call = N(d1)     Δ_put = N(d1) − 1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= [ln(S/K) + (r + σ²/2)T] / (σ√T)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inferred IV, current stock price S, risk-free rate 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576072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64008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45079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47091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Approximation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5001768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these are technically American-style equity options, all contracts target DTE ∈ [21,‧27] days. With such short expiration windows, the probability of early exercise is negligible for near-term OTM positions. European Black-Scholes therefore provides an accurate and tractable approximation of delta.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1783080"/>
            <a:ext cx="5212080" cy="3977640"/>
          </a:xfrm>
          <a:prstGeom prst="rect">
            <a:avLst/>
          </a:prstGeom>
          <a:solidFill>
            <a:srgbClr val="0F1C33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29400" y="19019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29400" y="2240280"/>
            <a:ext cx="484632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56832" y="22860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0" y="2286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ln(S/K) + (r + σ²/2)·T ] / (σ·√T)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9400" y="2880360"/>
            <a:ext cx="484632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56832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Δ_call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63840" y="2926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N(d1)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9400" y="3520440"/>
            <a:ext cx="484632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56832" y="3566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Δ_put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63840" y="3566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N(d1) − 1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9400" y="4160520"/>
            <a:ext cx="484632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56832" y="4206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 solve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63840" y="4206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BS_price(σ) = market_mid  →  Newton-Raphson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9400" y="4800600"/>
            <a:ext cx="484632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56832" y="4846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63840" y="4846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DTE ∈ [21,27] ⇒ early exercise premium negligible ⇒ European BS is valid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5806440"/>
            <a:ext cx="521208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83680" y="585216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IVTable + DeltaTable  (date | ticker | cp_flag | exp_date | strike | iv | delta)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658368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  |  Systematic Premium Harvesting  |  2013–2024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Contract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Closest-Delta Rule — D10 vs D20 for Puts &amp; Calls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1274552" cy="0"/>
          </a:xfrm>
          <a:prstGeom prst="line">
            <a:avLst/>
          </a:prstGeom>
          <a:noFill/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1274552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52144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For each ticker at each rebalance date, select the contract minimizing |delta − target|. Tie-break: higher mid price (more premium).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394960" cy="20116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64008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85216" y="1856232"/>
            <a:ext cx="9144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5216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 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0020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 Put — Cash-Secured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233172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228600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 OptionTable_rebal (DTE ∈ [21,27])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60604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4672" y="256032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delta: −0.10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288036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" y="283464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| delta − (−0.10) | minimum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315468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" y="310896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assignment probability (~10%)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342900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4672" y="338328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premium collected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783080"/>
            <a:ext cx="5394960" cy="20116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1783080"/>
            <a:ext cx="64008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54496" y="1856232"/>
            <a:ext cx="9144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54496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 CALL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6948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 Call — Covered Call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27648" y="233172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73952" y="228600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only when shares held (post-assignment)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27648" y="260604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73952" y="256032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delta: +0.10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27648" y="288036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73952" y="283464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| delta − (+0.10) | minimum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27648" y="315468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73952" y="310896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call-away probability (~10%)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27648" y="3429000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73952" y="338328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more upside participation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977640"/>
            <a:ext cx="5394960" cy="20116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7200" y="3977640"/>
            <a:ext cx="64008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85216" y="4050792"/>
            <a:ext cx="9144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5216" y="4069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 PUT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0020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 Put — Cash-Secured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8368" y="452628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04672" y="448056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 OptionTable_rebal (DTE ∈ [21,27])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8368" y="480060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04672" y="475488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delta: −0.20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58368" y="507492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04672" y="502920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| delta − (−0.20) | minimum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8368" y="534924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04672" y="530352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assignment probability (~20%)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58368" y="562356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04672" y="557784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premium collected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26480" y="3977640"/>
            <a:ext cx="5394960" cy="20116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26480" y="3977640"/>
            <a:ext cx="64008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54496" y="4050792"/>
            <a:ext cx="9144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54496" y="4069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 CALL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26948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 Call — Covered Call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327648" y="452628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73952" y="448056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only when shares held (post-assignment)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327648" y="480060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73952" y="475488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delta: +0.20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327648" y="507492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473952" y="502920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| delta − (+0.20) | minimum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327648" y="534924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73952" y="530352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call-away probability (~20%)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327648" y="562356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473952" y="557784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upside participation, more income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57200" y="658368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PutSheet and CallSheet output: strategy_id | rebalance_date | ticker | cp_flag | exp_date | strike | trade_price | delta_used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Backtesting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Time-Driven State Machine — Daily Simulation 2013–2024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1274552" cy="0"/>
          </a:xfrm>
          <a:prstGeom prst="line">
            <a:avLst/>
          </a:prstGeom>
          <a:noFill/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5661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247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1247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Settlement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3566160" cy="274320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1554480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date == exp_date: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1901952"/>
            <a:ext cx="548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" y="1883664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ITM (S &lt; K): Buy 100 shares at strike K. Cash −= K × 100.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377440"/>
            <a:ext cx="548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" y="2359152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OTM (S ≥ K): Option expires worthless. Premium already booked.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852928"/>
            <a:ext cx="548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" y="2834640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ITM (S &gt; K): Sell 100 shares at strike K. Cash += K × 100.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328416"/>
            <a:ext cx="548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" y="3310128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OTM (S ≤ K): Option expires worthless. Hold shares.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97280"/>
            <a:ext cx="356616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43400" y="11247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11247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— Open Positions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1481328"/>
            <a:ext cx="3566160" cy="274320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61688" y="1554480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date == rebalance_date: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61688" y="1901952"/>
            <a:ext cx="54864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89704" y="1883664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20 selected stocks: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61688" y="2377440"/>
            <a:ext cx="54864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89704" y="2359152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== 0 → Sell Put from PutSheet. Cash += premium × 100.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61688" y="2852928"/>
            <a:ext cx="54864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89704" y="2834640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&gt; 0  → Sell Call from CallSheet. Cash += premium × 100.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61688" y="3328416"/>
            <a:ext cx="54864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89704" y="3310128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if existing open option on same ticker.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46720" y="1097280"/>
            <a:ext cx="3566160" cy="384048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138160" y="11247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06840" y="11247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MTM Snapshot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1481328"/>
            <a:ext cx="3566160" cy="274320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56448" y="1554480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trading day: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56448" y="1901952"/>
            <a:ext cx="54864" cy="292608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84464" y="1883664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= Cash + Σ(shares × stock_close) − Σ(short_option_mid × 100)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56448" y="2377440"/>
            <a:ext cx="54864" cy="292608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84464" y="2359152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MTM: UnderlyingPrice.close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156448" y="2852928"/>
            <a:ext cx="54864" cy="292608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84464" y="2834640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MTM: OptionMTMTable.mid  (short options are liabilities)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56448" y="3328416"/>
            <a:ext cx="54864" cy="292608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84464" y="3310128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Record: daily_pnl = equity_today − equity_yesterday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389120"/>
            <a:ext cx="11274552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8640" y="44256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736592"/>
            <a:ext cx="3566160" cy="6400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57200" y="4736592"/>
            <a:ext cx="64008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0080" y="47731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DailyPortfolio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" y="5029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strategy_id | date | cash | equity | daily_pnl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251960" y="4736592"/>
            <a:ext cx="3566160" cy="6400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251960" y="4736592"/>
            <a:ext cx="64008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434840" y="47731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TradeLog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434840" y="5029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strategy_id | date | ticker | event | detail | cash_change | shares_change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046720" y="4736592"/>
            <a:ext cx="3566160" cy="6400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046720" y="4736592"/>
            <a:ext cx="64008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229600" y="47731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229600" y="5029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CAGR | Volatility | Sharpe | Max Drawdown | VaR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7200" y="658368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 and D20 run as fully independent accounts. Initial capital: $10,000,000 each.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 &amp; Infrastructure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Costs, Position Sizing &amp; Data Sources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1274552" cy="0"/>
          </a:xfrm>
          <a:prstGeom prst="line">
            <a:avLst/>
          </a:prstGeom>
          <a:noFill/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COST ASSUMPTIONS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212080" cy="91440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6858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50876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Commission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34440" y="18013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$0.30 per contract (standard retail brokerage rate). Applied at open and close.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5212080" cy="91440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6858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56032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234440" y="28529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slippage applied to both stock fills (assignment) and option premium received.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5212080" cy="91440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6858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6118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Close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234440" y="39044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positions held to expiration. No rolling, no early buy-to-close. Simplifies backtest and reflects systematic execution.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5212080" cy="91440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6858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466344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Yield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234440" y="495604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Uninvested cash earns the 3-month T-bill rate (daily, forward-filled). Tracked via RiskFree3M table.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107899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SIZING &amp; CONSTRAINTS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039112"/>
            <a:ext cx="566928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35040" y="1527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Capital: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01000" y="1527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$10,000,000 per strategy (D10 and D20 independent)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2743200"/>
            <a:ext cx="566928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35040" y="2231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Position: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01000" y="22311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capital per stock = $500,000 max exposure each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3447288"/>
            <a:ext cx="566928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35040" y="29352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Count: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001000" y="29352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stocks per period, equal-weighted at 5%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35040" y="4151376"/>
            <a:ext cx="566928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35040" y="36393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001000" y="3639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contract (100 shares) per position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35040" y="4855464"/>
            <a:ext cx="566928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35040" y="4343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0100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4 weeks; DTE ∈ [21,27] for selected contracts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35040" y="5559552"/>
            <a:ext cx="5669280" cy="0"/>
          </a:xfrm>
          <a:prstGeom prst="line">
            <a:avLst/>
          </a:prstGeom>
          <a:noFill/>
          <a:ln w="635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035040" y="50474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Backtest: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00100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2016-04-29 to 2024-12-31 (full cycle, ~8.5 years)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035040" y="5486400"/>
            <a:ext cx="566928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172200" y="55412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72200" y="576072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&amp; Fundamentals: WRDS / CRSP   |   Analyst Ratings: WRDS / I/B/E/S   |   Options Data: Databento API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7200" y="658368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  |  Systematic Premium Harvesting  |  2013–2024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2016 – Dec 2024  |  D10 vs D20 vs SPY vs AGG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1274552" cy="0"/>
          </a:xfrm>
          <a:prstGeom prst="line">
            <a:avLst/>
          </a:prstGeom>
          <a:noFill/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D10/D20 deliver equity-like risk-adjusted returns at ~40% lower volatility than SPY, with ~9pp better max drawdown protection.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3566160" cy="10972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64008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84708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1671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D10: +65.9%   │   D20: +81.5%   │   SPY: +226%   │   AGG: +12.4%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755648"/>
            <a:ext cx="3566160" cy="10972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51960" y="1755648"/>
            <a:ext cx="64008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34840" y="184708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21671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D10: 6.0%   │   D20: 7.1%   │   SPY: 14.6%   │   AGG: 1.4%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755648"/>
            <a:ext cx="3566160" cy="10972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1755648"/>
            <a:ext cx="64008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0" y="184708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Volatility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21671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D10: 9.9%   │   D20: 10.2%   │   SPY: 16.8%   │   AGG: 6.4%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3566160" cy="10972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035808"/>
            <a:ext cx="64008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12724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4472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D10: 0.640   │   D20: 0.727   │   SPY: 0.868   │   AGG: 0.212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3035808"/>
            <a:ext cx="3566160" cy="10972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51960" y="3035808"/>
            <a:ext cx="64008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34840" y="312724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34472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D10: −25.5%   │   D20: −25.2%   │   SPY: −34.5%   │   AGG: −23.5%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3035808"/>
            <a:ext cx="3566160" cy="10972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46720" y="3035808"/>
            <a:ext cx="64008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0" y="312724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95% / CVaR 95%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34472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D10: −0.96% / −1.57%   │   D20: −0.96% / −1.56%   │   SPY: −1.68% / −2.77%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1127455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4471416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ANALYSIS  (CAGR  │  Sharpe  │  Max DD)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828032"/>
            <a:ext cx="2148840" cy="1234440"/>
          </a:xfrm>
          <a:prstGeom prst="rect">
            <a:avLst/>
          </a:prstGeom>
          <a:solidFill>
            <a:srgbClr val="F5F5F5"/>
          </a:solidFill>
          <a:ln w="15240">
            <a:solidFill>
              <a:srgbClr val="3A7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" y="4828032"/>
            <a:ext cx="2148840" cy="73152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49194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2017–2019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5212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Market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55778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D10: 8.1% / 1.46 / −6.5%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D20: 7.3% / 1.25 / −7.2%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15768" y="4828032"/>
            <a:ext cx="2148840" cy="1234440"/>
          </a:xfrm>
          <a:prstGeom prst="rect">
            <a:avLst/>
          </a:prstGeom>
          <a:solidFill>
            <a:srgbClr val="F5F5F5"/>
          </a:solidFill>
          <a:ln w="1524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715768" y="4828032"/>
            <a:ext cx="2148840" cy="73152"/>
          </a:xfrm>
          <a:prstGeom prst="rect">
            <a:avLst/>
          </a:prstGeom>
          <a:solidFill>
            <a:srgbClr val="2E6CA4"/>
          </a:solidFill>
          <a:ln w="12700">
            <a:solidFill>
              <a:srgbClr val="2E6C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807208" y="49194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807208" y="5212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Shock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07208" y="55778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D10: 12.9% / 0.85 / −13.2%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D20: 11.9% / 0.86 / −12.5%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74336" y="4828032"/>
            <a:ext cx="2148840" cy="1234440"/>
          </a:xfrm>
          <a:prstGeom prst="rect">
            <a:avLst/>
          </a:prstGeom>
          <a:solidFill>
            <a:srgbClr val="F5F5F5"/>
          </a:solidFill>
          <a:ln w="1524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974336" y="4828032"/>
            <a:ext cx="214884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65776" y="49194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65776" y="5212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&amp; Bubble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65776" y="55778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D10: 18.4% / 1.68 / −5.5%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D20: 26.5% / 1.87 / −4.8%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32904" y="4828032"/>
            <a:ext cx="2148840" cy="1234440"/>
          </a:xfrm>
          <a:prstGeom prst="rect">
            <a:avLst/>
          </a:prstGeom>
          <a:solidFill>
            <a:srgbClr val="F5F5F5"/>
          </a:solidFill>
          <a:ln w="15240">
            <a:solidFill>
              <a:srgbClr val="7B4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232904" y="4828032"/>
            <a:ext cx="2148840" cy="73152"/>
          </a:xfrm>
          <a:prstGeom prst="rect">
            <a:avLst/>
          </a:prstGeom>
          <a:solidFill>
            <a:srgbClr val="7B4F9E"/>
          </a:solidFill>
          <a:ln w="12700">
            <a:solidFill>
              <a:srgbClr val="7B4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324344" y="49194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324344" y="5212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Bear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24344" y="55778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D10: −19.2% / −1.08 / −25.0%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D20: −19.2% / −1.08 / −24.8%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491472" y="4828032"/>
            <a:ext cx="2148840" cy="1234440"/>
          </a:xfrm>
          <a:prstGeom prst="rect">
            <a:avLst/>
          </a:prstGeom>
          <a:solidFill>
            <a:srgbClr val="F5F5F5"/>
          </a:solidFill>
          <a:ln w="1524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491472" y="4828032"/>
            <a:ext cx="21488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582912" y="49194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2023–2024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582912" y="5212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Rally (2023–24)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582912" y="55778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D10: 9.2% / 1.45 / −4.0%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D20: 11.8% / 1.59 / −4.6%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7200" y="658368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S&amp;P 500 Total Return Index  |  Risk-free: 3-month T-bill (daily)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 — Regime &amp; Tail Risk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 performance across 5 market regimes  |  Correlation &amp; VaR/CVaR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1274552" cy="0"/>
          </a:xfrm>
          <a:prstGeom prst="line">
            <a:avLst/>
          </a:prstGeom>
          <a:noFill/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D10/D20 correlation with SPY spikes in bear markets (0.91 in 2022) but stays low in rallies (0.57 in 2023–24). Daily VaR 95% is 43% smaller than SPY.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3566160" cy="10972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64008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2" name="CumRetChart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1545335"/>
            <a:ext cx="11700000" cy="531266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Shape 58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7200" y="658368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CAGR / Volatility / Sharpe / Max Drawdown across 5 regimes vs SPY &amp; AGG  |  Right: Pairwise correlation matrix, daily VaR 95%/99%, CVaR 95%/99%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bsampleChart">
            <a:extLst>
              <a:ext uri="{FF2B5EF4-FFF2-40B4-BE49-F238E27FC236}">
                <a16:creationId xmlns:a16="http://schemas.microsoft.com/office/drawing/2014/main" id="{3AC16C9D-4577-51C0-6731-F49975B17E9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l="-65" t="43858" r="54203" b="9258"/>
          <a:stretch>
            <a:fillRect/>
          </a:stretch>
        </p:blipFill>
        <p:spPr>
          <a:xfrm>
            <a:off x="519378" y="279806"/>
            <a:ext cx="11016692" cy="62983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4043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SubsampleChart"/>
          <p:cNvPicPr preferRelativeResize="0"/>
          <p:nvPr/>
        </p:nvPicPr>
        <p:blipFill>
          <a:blip r:embed="rId2">
            <a:alphaModFix/>
          </a:blip>
          <a:srcRect l="54746" t="48011" r="2" b="9528"/>
          <a:stretch>
            <a:fillRect/>
          </a:stretch>
        </p:blipFill>
        <p:spPr>
          <a:xfrm>
            <a:off x="387705" y="140817"/>
            <a:ext cx="11038637" cy="65763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381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rrChart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1226027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4726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  |  Apr 2016 – Dec 2024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1274552" cy="0"/>
          </a:xfrm>
          <a:prstGeom prst="line">
            <a:avLst/>
          </a:prstGeom>
          <a:noFill/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systematic, rules-based </a:t>
            </a:r>
            <a:r>
              <a:rPr lang="en-US" altLang="zh-CN" sz="11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</a:t>
            </a:r>
            <a:r>
              <a:rPr lang="en-US" sz="11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that delivers superior risk-adjusted returns relative to both equity and fixed-income benchmarks across diverse market regimes.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3566160" cy="10972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64008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Card210BG"/>
          <p:cNvSpPr>
            <a:spLocks noGrp="1"/>
          </p:cNvSpPr>
          <p:nvPr/>
        </p:nvSpPr>
        <p:spPr>
          <a:xfrm>
            <a:off x="228600" y="1640000"/>
            <a:ext cx="5700000" cy="2100000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Card210Bar"/>
          <p:cNvSpPr>
            <a:spLocks noGrp="1"/>
          </p:cNvSpPr>
          <p:nvPr/>
        </p:nvSpPr>
        <p:spPr>
          <a:xfrm>
            <a:off x="228600" y="1640000"/>
            <a:ext cx="5700000" cy="10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Card210Text"/>
          <p:cNvSpPr txBox="1">
            <a:spLocks noGrp="1"/>
          </p:cNvSpPr>
          <p:nvPr/>
        </p:nvSpPr>
        <p:spPr>
          <a:xfrm>
            <a:off x="378600" y="1790000"/>
            <a:ext cx="5400000" cy="190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>
                <a:solidFill>
                  <a:srgbClr val="1B2A4A"/>
                </a:solidFill>
              </a:rPr>
              <a:t>Risk-Adjusted Performance</a:t>
            </a:r>
          </a:p>
          <a:p>
            <a:pPr marL="228600" indent="-228600" algn="l">
              <a:spcBef>
                <a:spcPts val="500"/>
              </a:spcBef>
              <a:buClr>
                <a:srgbClr val="C9A84C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D10 Sharpe 0.640 / D20 Sharpe 0.727 — equity-class returns at ~40% lower volatility than SPY</a:t>
            </a:r>
          </a:p>
          <a:p>
            <a:pPr marL="228600" indent="-228600" algn="l">
              <a:spcBef>
                <a:spcPts val="500"/>
              </a:spcBef>
              <a:buClr>
                <a:srgbClr val="C9A84C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Max drawdown ~25% vs SPY −34.5%; daily VaR 95% of −0.96% vs SPY −1.68%</a:t>
            </a:r>
          </a:p>
          <a:p>
            <a:pPr marL="228600" indent="-228600" algn="l">
              <a:spcBef>
                <a:spcPts val="500"/>
              </a:spcBef>
              <a:buClr>
                <a:srgbClr val="C9A84C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Outperforms AGG on every metric while maintaining low correlation (0.14) to fixed income</a:t>
            </a:r>
          </a:p>
        </p:txBody>
      </p:sp>
      <p:sp>
        <p:nvSpPr>
          <p:cNvPr id="220" name="Card220BG"/>
          <p:cNvSpPr>
            <a:spLocks noGrp="1"/>
          </p:cNvSpPr>
          <p:nvPr/>
        </p:nvSpPr>
        <p:spPr>
          <a:xfrm>
            <a:off x="6178600" y="1640000"/>
            <a:ext cx="5785000" cy="2100000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Card220Bar"/>
          <p:cNvSpPr>
            <a:spLocks noGrp="1"/>
          </p:cNvSpPr>
          <p:nvPr/>
        </p:nvSpPr>
        <p:spPr>
          <a:xfrm>
            <a:off x="6178600" y="1640000"/>
            <a:ext cx="5785000" cy="1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Card220Text"/>
          <p:cNvSpPr txBox="1">
            <a:spLocks noGrp="1"/>
          </p:cNvSpPr>
          <p:nvPr/>
        </p:nvSpPr>
        <p:spPr>
          <a:xfrm>
            <a:off x="6328600" y="1790000"/>
            <a:ext cx="5485000" cy="190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>
                <a:solidFill>
                  <a:srgbClr val="1B2A4A"/>
                </a:solidFill>
              </a:rPr>
              <a:t>Regime Resilience</a:t>
            </a:r>
          </a:p>
          <a:p>
            <a:pPr marL="228600" indent="-228600" algn="l">
              <a:spcBef>
                <a:spcPts val="500"/>
              </a:spcBef>
              <a:buClr>
                <a:srgbClr val="1B2A4A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Positive Sharpe in 4 of 5 regimes; only 2022 Inflation Bear drove drawdown (−25%), matching SPY losses</a:t>
            </a:r>
          </a:p>
          <a:p>
            <a:pPr marL="228600" indent="-228600" algn="l">
              <a:spcBef>
                <a:spcPts val="500"/>
              </a:spcBef>
              <a:buClr>
                <a:srgbClr val="1B2A4A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SPY correlation spikes to 0.91 in bear markets but falls to 0.57 in AI Rally — hedging value when it matters most</a:t>
            </a:r>
          </a:p>
          <a:p>
            <a:pPr marL="228600" indent="-228600" algn="l">
              <a:spcBef>
                <a:spcPts val="500"/>
              </a:spcBef>
              <a:buClr>
                <a:srgbClr val="1B2A4A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Premium income provides natural cushion: put premium offsets ~30–50% of assignment losses historically</a:t>
            </a:r>
          </a:p>
        </p:txBody>
      </p:sp>
      <p:sp>
        <p:nvSpPr>
          <p:cNvPr id="230" name="Card230BG"/>
          <p:cNvSpPr>
            <a:spLocks noGrp="1"/>
          </p:cNvSpPr>
          <p:nvPr/>
        </p:nvSpPr>
        <p:spPr>
          <a:xfrm>
            <a:off x="228600" y="3890000"/>
            <a:ext cx="5700000" cy="2150000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Card230Bar"/>
          <p:cNvSpPr>
            <a:spLocks noGrp="1"/>
          </p:cNvSpPr>
          <p:nvPr/>
        </p:nvSpPr>
        <p:spPr>
          <a:xfrm>
            <a:off x="228600" y="3890000"/>
            <a:ext cx="5700000" cy="1000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Card230Text"/>
          <p:cNvSpPr txBox="1">
            <a:spLocks noGrp="1"/>
          </p:cNvSpPr>
          <p:nvPr/>
        </p:nvSpPr>
        <p:spPr>
          <a:xfrm>
            <a:off x="378600" y="4040000"/>
            <a:ext cx="5400000" cy="195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>
                <a:solidFill>
                  <a:srgbClr val="1B2A4A"/>
                </a:solidFill>
              </a:rPr>
              <a:t>Structural Limitations &amp; Trade-offs</a:t>
            </a:r>
          </a:p>
          <a:p>
            <a:pPr marL="228600" indent="-228600" algn="l">
              <a:spcBef>
                <a:spcPts val="500"/>
              </a:spcBef>
              <a:buClr>
                <a:srgbClr val="3A7D44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CAGR gap vs SPY (6–7% vs 14.6%) reflects the structural upside cap from short calls in strong bull runs</a:t>
            </a:r>
          </a:p>
          <a:p>
            <a:pPr marL="228600" indent="-228600" algn="l">
              <a:spcBef>
                <a:spcPts val="500"/>
              </a:spcBef>
              <a:buClr>
                <a:srgbClr val="3A7D44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Put assignment in bear markets converts to long equity exposure, increasing drawdown correlation with SPY</a:t>
            </a:r>
          </a:p>
          <a:p>
            <a:pPr marL="228600" indent="-228600" algn="l">
              <a:spcBef>
                <a:spcPts val="500"/>
              </a:spcBef>
              <a:buClr>
                <a:srgbClr val="3A7D44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Transaction costs (~24–34 bps/year) are manageable but compound over time; execution slippage is a real risk</a:t>
            </a:r>
          </a:p>
        </p:txBody>
      </p:sp>
      <p:sp>
        <p:nvSpPr>
          <p:cNvPr id="240" name="Card240BG"/>
          <p:cNvSpPr>
            <a:spLocks noGrp="1"/>
          </p:cNvSpPr>
          <p:nvPr/>
        </p:nvSpPr>
        <p:spPr>
          <a:xfrm>
            <a:off x="6178600" y="3890000"/>
            <a:ext cx="5785000" cy="2150000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Card240Bar"/>
          <p:cNvSpPr>
            <a:spLocks noGrp="1"/>
          </p:cNvSpPr>
          <p:nvPr/>
        </p:nvSpPr>
        <p:spPr>
          <a:xfrm>
            <a:off x="6178600" y="3890000"/>
            <a:ext cx="5785000" cy="100000"/>
          </a:xfrm>
          <a:prstGeom prst="rect">
            <a:avLst/>
          </a:prstGeom>
          <a:solidFill>
            <a:srgbClr val="2E6CA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Card240Text"/>
          <p:cNvSpPr txBox="1">
            <a:spLocks noGrp="1"/>
          </p:cNvSpPr>
          <p:nvPr/>
        </p:nvSpPr>
        <p:spPr>
          <a:xfrm>
            <a:off x="6328600" y="4040000"/>
            <a:ext cx="5485000" cy="195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>
                <a:solidFill>
                  <a:srgbClr val="1B2A4A"/>
                </a:solidFill>
              </a:rPr>
              <a:t>Investment Mandate Fit</a:t>
            </a:r>
          </a:p>
          <a:p>
            <a:pPr marL="228600" indent="-228600" algn="l">
              <a:spcBef>
                <a:spcPts val="500"/>
              </a:spcBef>
              <a:buClr>
                <a:srgbClr val="2E6CA4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Ideal for investors seeking equity-like Sharpe with lower volatility and drawdown than a passive S&amp;P index</a:t>
            </a:r>
          </a:p>
          <a:p>
            <a:pPr marL="228600" indent="-228600" algn="l">
              <a:spcBef>
                <a:spcPts val="500"/>
              </a:spcBef>
              <a:buClr>
                <a:srgbClr val="2E6CA4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Complements a core equity portfolio as a volatility-dampening overlay with uncorrelated premium income stream</a:t>
            </a:r>
          </a:p>
          <a:p>
            <a:pPr marL="228600" indent="-228600" algn="l">
              <a:spcBef>
                <a:spcPts val="500"/>
              </a:spcBef>
              <a:buClr>
                <a:srgbClr val="2E6CA4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Fully mechanical rules eliminate discretionary bias; scalable and auditable with WRDS + Databento data stack</a:t>
            </a:r>
          </a:p>
        </p:txBody>
      </p:sp>
      <p:sp>
        <p:nvSpPr>
          <p:cNvPr id="60" name="Shape 58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7200" y="658368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  |  Systematic Premium Harvesting  |  2016–2024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extensions to improve capital efficiency and risk-adjusted returns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1274552" cy="0"/>
          </a:xfrm>
          <a:prstGeom prst="line">
            <a:avLst/>
          </a:prstGeom>
          <a:noFill/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52144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strategy provides a solid baseline. The following enhancements target the key structural gaps: upside cap in bull markets, idle cash drag, and fixed delta sensitivity to vol regimes.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3566160" cy="1097280"/>
          </a:xfrm>
          <a:prstGeom prst="rect">
            <a:avLst/>
          </a:prstGeom>
          <a:solidFill>
            <a:srgbClr val="F5F5F5"/>
          </a:solidFill>
          <a:ln w="1016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64008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Card1BG"/>
          <p:cNvSpPr>
            <a:spLocks noGrp="1"/>
          </p:cNvSpPr>
          <p:nvPr/>
        </p:nvSpPr>
        <p:spPr>
          <a:xfrm>
            <a:off x="228600" y="1630000"/>
            <a:ext cx="3700000" cy="4800000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Card1AccentBar"/>
          <p:cNvSpPr>
            <a:spLocks noGrp="1"/>
          </p:cNvSpPr>
          <p:nvPr/>
        </p:nvSpPr>
        <p:spPr>
          <a:xfrm>
            <a:off x="228600" y="1630000"/>
            <a:ext cx="3700000" cy="1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Card1Num"/>
          <p:cNvSpPr txBox="1">
            <a:spLocks noGrp="1"/>
          </p:cNvSpPr>
          <p:nvPr/>
        </p:nvSpPr>
        <p:spPr>
          <a:xfrm>
            <a:off x="380000" y="1800000"/>
            <a:ext cx="3400000" cy="50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C9A84C"/>
                </a:solidFill>
              </a:rPr>
              <a:t>01</a:t>
            </a:r>
          </a:p>
        </p:txBody>
      </p:sp>
      <p:sp>
        <p:nvSpPr>
          <p:cNvPr id="213" name="Card1Title"/>
          <p:cNvSpPr txBox="1">
            <a:spLocks noGrp="1"/>
          </p:cNvSpPr>
          <p:nvPr/>
        </p:nvSpPr>
        <p:spPr>
          <a:xfrm>
            <a:off x="380000" y="2340000"/>
            <a:ext cx="3400000" cy="50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600" b="1">
                <a:solidFill>
                  <a:srgbClr val="1B2A4A"/>
                </a:solidFill>
              </a:rPr>
              <a:t>Volatility-Regime Strike Selection</a:t>
            </a:r>
          </a:p>
        </p:txBody>
      </p:sp>
      <p:sp>
        <p:nvSpPr>
          <p:cNvPr id="214" name="Card1Body"/>
          <p:cNvSpPr txBox="1">
            <a:spLocks noGrp="1"/>
          </p:cNvSpPr>
          <p:nvPr/>
        </p:nvSpPr>
        <p:spPr>
          <a:xfrm>
            <a:off x="380000" y="2870000"/>
            <a:ext cx="3400000" cy="330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C9A84C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Replace fixed delta targets with a Realised/Implied Vol (RV/IV) signal</a:t>
            </a:r>
          </a:p>
          <a:p>
            <a:pPr marL="228600" indent="-228600" algn="l">
              <a:spcBef>
                <a:spcPts val="600"/>
              </a:spcBef>
              <a:buClr>
                <a:srgbClr val="C9A84C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Sell options only when IV &gt; RV (positive volatility risk premium)</a:t>
            </a:r>
          </a:p>
          <a:p>
            <a:pPr marL="228600" indent="-228600" algn="l">
              <a:spcBef>
                <a:spcPts val="600"/>
              </a:spcBef>
              <a:buClr>
                <a:srgbClr val="C9A84C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Higher delta when VRP is wide; pull back in low/inverted VRP regimes (e.g. Inflation Bear 2022)</a:t>
            </a:r>
          </a:p>
        </p:txBody>
      </p:sp>
      <p:sp>
        <p:nvSpPr>
          <p:cNvPr id="220" name="Card2BG"/>
          <p:cNvSpPr>
            <a:spLocks noGrp="1"/>
          </p:cNvSpPr>
          <p:nvPr/>
        </p:nvSpPr>
        <p:spPr>
          <a:xfrm>
            <a:off x="4178600" y="1630000"/>
            <a:ext cx="3700000" cy="4800000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Card2AccentBar"/>
          <p:cNvSpPr>
            <a:spLocks noGrp="1"/>
          </p:cNvSpPr>
          <p:nvPr/>
        </p:nvSpPr>
        <p:spPr>
          <a:xfrm>
            <a:off x="4178600" y="1630000"/>
            <a:ext cx="3700000" cy="12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Card2Num"/>
          <p:cNvSpPr txBox="1">
            <a:spLocks noGrp="1"/>
          </p:cNvSpPr>
          <p:nvPr/>
        </p:nvSpPr>
        <p:spPr>
          <a:xfrm>
            <a:off x="4330000" y="1800000"/>
            <a:ext cx="3400000" cy="50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1B2A4A"/>
                </a:solidFill>
              </a:rPr>
              <a:t>02</a:t>
            </a:r>
          </a:p>
        </p:txBody>
      </p:sp>
      <p:sp>
        <p:nvSpPr>
          <p:cNvPr id="223" name="Card2Title"/>
          <p:cNvSpPr txBox="1">
            <a:spLocks noGrp="1"/>
          </p:cNvSpPr>
          <p:nvPr/>
        </p:nvSpPr>
        <p:spPr>
          <a:xfrm>
            <a:off x="4330000" y="2340000"/>
            <a:ext cx="3400000" cy="50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600" b="1">
                <a:solidFill>
                  <a:srgbClr val="1B2A4A"/>
                </a:solidFill>
              </a:rPr>
              <a:t>Equity-First Initialisation</a:t>
            </a:r>
          </a:p>
        </p:txBody>
      </p:sp>
      <p:sp>
        <p:nvSpPr>
          <p:cNvPr id="224" name="Card2Body"/>
          <p:cNvSpPr txBox="1">
            <a:spLocks noGrp="1"/>
          </p:cNvSpPr>
          <p:nvPr/>
        </p:nvSpPr>
        <p:spPr>
          <a:xfrm>
            <a:off x="4330000" y="2870000"/>
            <a:ext cx="3400000" cy="330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1B2A4A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Start fully invested in long equities; immediately sell covered calls (buy-write overlay)</a:t>
            </a:r>
          </a:p>
          <a:p>
            <a:pPr marL="228600" indent="-228600" algn="l">
              <a:spcBef>
                <a:spcPts val="600"/>
              </a:spcBef>
              <a:buClr>
                <a:srgbClr val="1B2A4A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Eliminates ramp-up lag; call premiums become return enhancers on fully-deployed capital</a:t>
            </a:r>
          </a:p>
          <a:p>
            <a:pPr marL="228600" indent="-228600" algn="l">
              <a:spcBef>
                <a:spcPts val="600"/>
              </a:spcBef>
              <a:buClr>
                <a:srgbClr val="1B2A4A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Expected to narrow CAGR gap vs SPY in strong bull markets (2021: SPY +28.7%; 2023–24: SPY +57.6%)</a:t>
            </a:r>
          </a:p>
        </p:txBody>
      </p:sp>
      <p:sp>
        <p:nvSpPr>
          <p:cNvPr id="230" name="Card3BG"/>
          <p:cNvSpPr>
            <a:spLocks noGrp="1"/>
          </p:cNvSpPr>
          <p:nvPr/>
        </p:nvSpPr>
        <p:spPr>
          <a:xfrm>
            <a:off x="8128600" y="1630000"/>
            <a:ext cx="3820000" cy="4800000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Card3AccentBar"/>
          <p:cNvSpPr>
            <a:spLocks noGrp="1"/>
          </p:cNvSpPr>
          <p:nvPr/>
        </p:nvSpPr>
        <p:spPr>
          <a:xfrm>
            <a:off x="8128600" y="1630000"/>
            <a:ext cx="3820000" cy="1200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Card3Num"/>
          <p:cNvSpPr txBox="1">
            <a:spLocks noGrp="1"/>
          </p:cNvSpPr>
          <p:nvPr/>
        </p:nvSpPr>
        <p:spPr>
          <a:xfrm>
            <a:off x="8280000" y="1800000"/>
            <a:ext cx="3500000" cy="50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3A7D44"/>
                </a:solidFill>
              </a:rPr>
              <a:t>03</a:t>
            </a:r>
          </a:p>
        </p:txBody>
      </p:sp>
      <p:sp>
        <p:nvSpPr>
          <p:cNvPr id="233" name="Card3Title"/>
          <p:cNvSpPr txBox="1">
            <a:spLocks noGrp="1"/>
          </p:cNvSpPr>
          <p:nvPr/>
        </p:nvSpPr>
        <p:spPr>
          <a:xfrm>
            <a:off x="8280000" y="2340000"/>
            <a:ext cx="3500000" cy="50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600" b="1">
                <a:solidFill>
                  <a:srgbClr val="1B2A4A"/>
                </a:solidFill>
              </a:rPr>
              <a:t>Idle Capital Deployment</a:t>
            </a:r>
          </a:p>
        </p:txBody>
      </p:sp>
      <p:sp>
        <p:nvSpPr>
          <p:cNvPr id="234" name="Card3Body"/>
          <p:cNvSpPr txBox="1">
            <a:spLocks noGrp="1"/>
          </p:cNvSpPr>
          <p:nvPr/>
        </p:nvSpPr>
        <p:spPr>
          <a:xfrm>
            <a:off x="8280000" y="2870000"/>
            <a:ext cx="3500000" cy="3300000"/>
          </a:xfrm>
          <a:prstGeom prst="rect">
            <a:avLst/>
          </a:prstGeom>
          <a:noFill/>
        </p:spPr>
        <p:txBody>
          <a:bodyPr wrap="square" lIns="91425" tIns="45712" rIns="91425" bIns="45712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3A7D44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Current rule: 1 contract (100 shares) per position; residual cash below the 100-lot threshold earns T-bill rate only</a:t>
            </a:r>
          </a:p>
          <a:p>
            <a:pPr marL="228600" indent="-228600" algn="l">
              <a:spcBef>
                <a:spcPts val="600"/>
              </a:spcBef>
              <a:buClr>
                <a:srgbClr val="3A7D44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Deploy idle cash into puts on lower-priced universe stocks to generate additional premium income</a:t>
            </a:r>
          </a:p>
          <a:p>
            <a:pPr marL="228600" indent="-228600" algn="l">
              <a:spcBef>
                <a:spcPts val="600"/>
              </a:spcBef>
              <a:buClr>
                <a:srgbClr val="3A7D44"/>
              </a:buClr>
              <a:buSzPts val="1200"/>
              <a:buChar char="●"/>
            </a:pPr>
            <a:r>
              <a:rPr lang="en-US" sz="1100">
                <a:solidFill>
                  <a:srgbClr val="3A3A3A"/>
                </a:solidFill>
              </a:rPr>
              <a:t>Improves capital efficiency without changing the strategy’s risk profile; all positions remain subject to the same delta filter</a:t>
            </a:r>
          </a:p>
        </p:txBody>
      </p:sp>
      <p:sp>
        <p:nvSpPr>
          <p:cNvPr id="60" name="Shape 58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762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7200" y="658368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Wheel Strategy  |  Systematic Premium Harvesting  |  2016–2024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2968</Words>
  <Application>Microsoft Office PowerPoint</Application>
  <PresentationFormat>Widescreen</PresentationFormat>
  <Paragraphs>396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Mingshu Lu</cp:lastModifiedBy>
  <cp:revision>3</cp:revision>
  <dcterms:created xsi:type="dcterms:W3CDTF">2026-03-07T07:33:11Z</dcterms:created>
  <dcterms:modified xsi:type="dcterms:W3CDTF">2026-03-07T16:27:47Z</dcterms:modified>
</cp:coreProperties>
</file>